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1" r:id="rId8"/>
    <p:sldId id="262" r:id="rId9"/>
    <p:sldId id="277" r:id="rId10"/>
    <p:sldId id="278" r:id="rId11"/>
    <p:sldId id="263" r:id="rId12"/>
    <p:sldId id="264" r:id="rId13"/>
    <p:sldId id="265" r:id="rId14"/>
    <p:sldId id="279" r:id="rId15"/>
    <p:sldId id="266" r:id="rId16"/>
    <p:sldId id="276" r:id="rId17"/>
    <p:sldId id="284" r:id="rId18"/>
    <p:sldId id="280" r:id="rId19"/>
    <p:sldId id="282" r:id="rId20"/>
    <p:sldId id="283" r:id="rId21"/>
    <p:sldId id="267" r:id="rId22"/>
    <p:sldId id="268" r:id="rId23"/>
    <p:sldId id="269" r:id="rId24"/>
    <p:sldId id="270" r:id="rId25"/>
    <p:sldId id="27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B6E4CE7-18B9-49D4-AF06-8EE5784DA0AF}">
          <p14:sldIdLst>
            <p14:sldId id="256"/>
            <p14:sldId id="257"/>
            <p14:sldId id="258"/>
            <p14:sldId id="259"/>
            <p14:sldId id="260"/>
            <p14:sldId id="261"/>
            <p14:sldId id="281"/>
            <p14:sldId id="262"/>
            <p14:sldId id="277"/>
            <p14:sldId id="278"/>
            <p14:sldId id="263"/>
            <p14:sldId id="264"/>
            <p14:sldId id="265"/>
            <p14:sldId id="279"/>
            <p14:sldId id="266"/>
            <p14:sldId id="276"/>
            <p14:sldId id="284"/>
            <p14:sldId id="280"/>
            <p14:sldId id="282"/>
            <p14:sldId id="283"/>
            <p14:sldId id="267"/>
            <p14:sldId id="268"/>
          </p14:sldIdLst>
        </p14:section>
        <p14:section name="Untitled Section" id="{457F5328-084B-4756-B182-29E9C0F61E08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51FB07-A238-4670-A4EB-4F44DBEA176C}" v="11" dt="2026-02-04T16:22:10.1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75" d="100"/>
          <a:sy n="75" d="100"/>
        </p:scale>
        <p:origin x="2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kesh Reddy" userId="17956d51e76535a0" providerId="LiveId" clId="{DCDFEFB9-C543-4D37-B240-57E7E8B556C2}"/>
    <pc:docChg chg="undo custSel addSld modSld">
      <pc:chgData name="Lokesh Reddy" userId="17956d51e76535a0" providerId="LiveId" clId="{DCDFEFB9-C543-4D37-B240-57E7E8B556C2}" dt="2026-02-04T16:22:10.123" v="47" actId="14100"/>
      <pc:docMkLst>
        <pc:docMk/>
      </pc:docMkLst>
      <pc:sldChg chg="modSp mod">
        <pc:chgData name="Lokesh Reddy" userId="17956d51e76535a0" providerId="LiveId" clId="{DCDFEFB9-C543-4D37-B240-57E7E8B556C2}" dt="2026-02-04T16:10:33.172" v="1" actId="1076"/>
        <pc:sldMkLst>
          <pc:docMk/>
          <pc:sldMk cId="3045116288" sldId="263"/>
        </pc:sldMkLst>
        <pc:spChg chg="mod">
          <ac:chgData name="Lokesh Reddy" userId="17956d51e76535a0" providerId="LiveId" clId="{DCDFEFB9-C543-4D37-B240-57E7E8B556C2}" dt="2026-02-04T16:10:33.172" v="1" actId="1076"/>
          <ac:spMkLst>
            <pc:docMk/>
            <pc:sldMk cId="3045116288" sldId="263"/>
            <ac:spMk id="2" creationId="{C3B4BB39-4FC6-CE93-66AC-E0AE176650CA}"/>
          </ac:spMkLst>
        </pc:spChg>
      </pc:sldChg>
      <pc:sldChg chg="addSp delSp modSp mod">
        <pc:chgData name="Lokesh Reddy" userId="17956d51e76535a0" providerId="LiveId" clId="{DCDFEFB9-C543-4D37-B240-57E7E8B556C2}" dt="2026-02-04T16:22:10.123" v="47" actId="14100"/>
        <pc:sldMkLst>
          <pc:docMk/>
          <pc:sldMk cId="160268464" sldId="276"/>
        </pc:sldMkLst>
        <pc:spChg chg="mod">
          <ac:chgData name="Lokesh Reddy" userId="17956d51e76535a0" providerId="LiveId" clId="{DCDFEFB9-C543-4D37-B240-57E7E8B556C2}" dt="2026-02-04T16:21:23.617" v="41"/>
          <ac:spMkLst>
            <pc:docMk/>
            <pc:sldMk cId="160268464" sldId="276"/>
            <ac:spMk id="2" creationId="{530F7E25-70E5-B02F-DAC0-FFB3A6BD9BC8}"/>
          </ac:spMkLst>
        </pc:spChg>
        <pc:spChg chg="del">
          <ac:chgData name="Lokesh Reddy" userId="17956d51e76535a0" providerId="LiveId" clId="{DCDFEFB9-C543-4D37-B240-57E7E8B556C2}" dt="2026-02-04T16:21:40.336" v="42"/>
          <ac:spMkLst>
            <pc:docMk/>
            <pc:sldMk cId="160268464" sldId="276"/>
            <ac:spMk id="3" creationId="{42902B9D-B0D0-927F-1829-8E6A9C240591}"/>
          </ac:spMkLst>
        </pc:spChg>
        <pc:spChg chg="add mod">
          <ac:chgData name="Lokesh Reddy" userId="17956d51e76535a0" providerId="LiveId" clId="{DCDFEFB9-C543-4D37-B240-57E7E8B556C2}" dt="2026-02-04T16:22:10.123" v="47" actId="14100"/>
          <ac:spMkLst>
            <pc:docMk/>
            <pc:sldMk cId="160268464" sldId="276"/>
            <ac:spMk id="4" creationId="{45795EC9-44F8-62C4-3459-6BEF0992B07A}"/>
          </ac:spMkLst>
        </pc:spChg>
      </pc:sldChg>
      <pc:sldChg chg="modSp add mod">
        <pc:chgData name="Lokesh Reddy" userId="17956d51e76535a0" providerId="LiveId" clId="{DCDFEFB9-C543-4D37-B240-57E7E8B556C2}" dt="2026-02-04T16:17:17.982" v="34" actId="255"/>
        <pc:sldMkLst>
          <pc:docMk/>
          <pc:sldMk cId="1254325986" sldId="277"/>
        </pc:sldMkLst>
        <pc:spChg chg="mod">
          <ac:chgData name="Lokesh Reddy" userId="17956d51e76535a0" providerId="LiveId" clId="{DCDFEFB9-C543-4D37-B240-57E7E8B556C2}" dt="2026-02-04T16:16:00.144" v="5" actId="14100"/>
          <ac:spMkLst>
            <pc:docMk/>
            <pc:sldMk cId="1254325986" sldId="277"/>
            <ac:spMk id="2" creationId="{509DC824-C65E-1B71-46FF-6ADA0C051EC1}"/>
          </ac:spMkLst>
        </pc:spChg>
        <pc:spChg chg="mod">
          <ac:chgData name="Lokesh Reddy" userId="17956d51e76535a0" providerId="LiveId" clId="{DCDFEFB9-C543-4D37-B240-57E7E8B556C2}" dt="2026-02-04T16:17:17.982" v="34" actId="255"/>
          <ac:spMkLst>
            <pc:docMk/>
            <pc:sldMk cId="1254325986" sldId="277"/>
            <ac:spMk id="3" creationId="{61522A14-76DF-D1C5-A77B-C146BE9A8B32}"/>
          </ac:spMkLst>
        </pc:spChg>
      </pc:sldChg>
      <pc:sldChg chg="delSp modSp add mod">
        <pc:chgData name="Lokesh Reddy" userId="17956d51e76535a0" providerId="LiveId" clId="{DCDFEFB9-C543-4D37-B240-57E7E8B556C2}" dt="2026-02-04T16:17:47.891" v="40" actId="27636"/>
        <pc:sldMkLst>
          <pc:docMk/>
          <pc:sldMk cId="4293571865" sldId="278"/>
        </pc:sldMkLst>
        <pc:spChg chg="del">
          <ac:chgData name="Lokesh Reddy" userId="17956d51e76535a0" providerId="LiveId" clId="{DCDFEFB9-C543-4D37-B240-57E7E8B556C2}" dt="2026-02-04T16:17:29.243" v="35" actId="21"/>
          <ac:spMkLst>
            <pc:docMk/>
            <pc:sldMk cId="4293571865" sldId="278"/>
            <ac:spMk id="2" creationId="{26055B2A-62D0-3F47-F2CE-CA999502AAB3}"/>
          </ac:spMkLst>
        </pc:spChg>
        <pc:spChg chg="mod">
          <ac:chgData name="Lokesh Reddy" userId="17956d51e76535a0" providerId="LiveId" clId="{DCDFEFB9-C543-4D37-B240-57E7E8B556C2}" dt="2026-02-04T16:17:47.891" v="40" actId="27636"/>
          <ac:spMkLst>
            <pc:docMk/>
            <pc:sldMk cId="4293571865" sldId="278"/>
            <ac:spMk id="3" creationId="{80C1D01D-3A1B-3D95-992F-C55D06E182C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42880-6F2D-F334-89BB-DC3B6F740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12" y="569139"/>
            <a:ext cx="9302752" cy="2748429"/>
          </a:xfrm>
        </p:spPr>
        <p:txBody>
          <a:bodyPr/>
          <a:lstStyle/>
          <a:p>
            <a:r>
              <a:rPr lang="en-IN" dirty="0"/>
              <a:t>AXI protocol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F6FD30-6B8A-9BAA-52F7-2F21B5B475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036" y="1542442"/>
            <a:ext cx="9610684" cy="1467795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Advanced eXtensible Interface</a:t>
            </a:r>
          </a:p>
        </p:txBody>
      </p:sp>
    </p:spTree>
    <p:extLst>
      <p:ext uri="{BB962C8B-B14F-4D97-AF65-F5344CB8AC3E}">
        <p14:creationId xmlns:p14="http://schemas.microsoft.com/office/powerpoint/2010/main" val="1153669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99CEA-8D24-BF27-33D6-36DF438BA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AMBA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1183F2E-787E-3F4E-299D-E6108C2794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98217" y="1931650"/>
            <a:ext cx="8140588" cy="3093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AMBA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Advanced Microcontroller Bus Architecture</a:t>
            </a:r>
            <a:endParaRPr lang="en-US" altLang="en-US" sz="21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a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 on-chip communication protocol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connect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CPU, memory, and peripherals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inside a SoC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Defined by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ARM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in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IP(</a:t>
            </a:r>
            <a:r>
              <a:rPr lang="en-IN" sz="2000" dirty="0"/>
              <a:t>Intellectual Property block)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reuse and interoperability(</a:t>
            </a:r>
            <a:r>
              <a:rPr lang="en-US" sz="2000" dirty="0"/>
              <a:t>Hardware blocks made by </a:t>
            </a:r>
            <a:r>
              <a:rPr lang="en-US" sz="2000" i="1" dirty="0"/>
              <a:t>different companies still work together</a:t>
            </a:r>
            <a:r>
              <a:rPr lang="en-US" sz="2000" dirty="0"/>
              <a:t>.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high-speed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low-speed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transfers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 AMBA buses: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AXI, AHB, APB</a:t>
            </a: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953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5CB22-61F8-68B7-1FA4-7D38067C6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AMBA family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2FB8A-FE88-E38E-A2B5-3C9EF125A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AMBA mainly have 3 major protocols</a:t>
            </a:r>
          </a:p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1E352F6-880C-D11D-88D9-E9EFD71C7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331003"/>
              </p:ext>
            </p:extLst>
          </p:nvPr>
        </p:nvGraphicFramePr>
        <p:xfrm>
          <a:off x="1141413" y="2953593"/>
          <a:ext cx="9906000" cy="2990005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1103807866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1947125965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175078949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3728221648"/>
                    </a:ext>
                  </a:extLst>
                </a:gridCol>
              </a:tblGrid>
              <a:tr h="385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AHB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AXI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5898032"/>
                  </a:ext>
                </a:extLst>
              </a:tr>
              <a:tr h="385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Medium–High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2556654"/>
                  </a:ext>
                </a:extLst>
              </a:tr>
              <a:tr h="385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Channels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Single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Single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 Independent Channels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5218437"/>
                  </a:ext>
                </a:extLst>
              </a:tr>
              <a:tr h="385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Architecture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Simple, Register-based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Shared Bus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Interconnect / Switch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595439"/>
                  </a:ext>
                </a:extLst>
              </a:tr>
              <a:tr h="385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Latency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0590853"/>
                  </a:ext>
                </a:extLst>
              </a:tr>
              <a:tr h="385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732761"/>
                  </a:ext>
                </a:extLst>
              </a:tr>
              <a:tr h="675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Peripherals (UART, I2C)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Memory, Fast Peripherals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Main System / CPU / DSP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874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3495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2CFBB-3662-0A7A-0939-F160F32FD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99E57-65C4-DE2A-45A2-7DFC319D4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axi protocol?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91E9D95-7030-9BD6-7FE4-AF5D0A2FE5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19199" y="1900818"/>
            <a:ext cx="9389533" cy="400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Bandwidth</a:t>
            </a:r>
            <a:b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AXI supports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burst transfers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(AWLEN/ARLEN) and wide data paths, allowing large amounts of data to move efficiently—critical for high-performance CPUs, GPUs, and DSPs.</a:t>
            </a:r>
          </a:p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Latency</a:t>
            </a:r>
            <a:b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Separate address, data, and response phases reduce wait states, enabling faster access to memory and peripherals.</a:t>
            </a:r>
          </a:p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Independent Read &amp; Write Channels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 and write operations occur in parallel, eliminating contention and significantly boosting data transfer performance.</a:t>
            </a:r>
          </a:p>
        </p:txBody>
      </p:sp>
    </p:spTree>
    <p:extLst>
      <p:ext uri="{BB962C8B-B14F-4D97-AF65-F5344CB8AC3E}">
        <p14:creationId xmlns:p14="http://schemas.microsoft.com/office/powerpoint/2010/main" val="4224636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288FC-E5FA-F478-3CD0-CDF178104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CB53B-468D-0EAD-F09A-A0AC35473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AXI Architecture Overview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D7EF21-C93C-6BDA-17FD-5EAA443E8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72" y="1761738"/>
            <a:ext cx="7843827" cy="474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17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45BAB-ADE5-7169-F5CD-4CAC5BED4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D7B8E-24DF-236D-39CE-7CD442BAF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AXI Channel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4B212-4F43-0B36-D065-DAFE60107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752600"/>
            <a:ext cx="11125200" cy="4258733"/>
          </a:xfrm>
        </p:spPr>
        <p:txBody>
          <a:bodyPr>
            <a:no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Independent Channels &amp; Their Directions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Address Channel (AW)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Master → Slave: carries write address and control information. 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Data Channel (W)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Master → Slave: carries the actual write data. 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Response Channel (B)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Slave → Master: returns status of write completion. 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Address Channel (AR)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Master → Slave: carries read address and control information. 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Data Channel (R)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Slave → Master: returns read data along with read response.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Each Channel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 where and how data should be written. 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Transfer the payload data for write transactions. 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Acknowledge write completion (OKAY/SLVERR/DECERR). 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Request read from a specific address. 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Return the requested read data + status.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684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ntroduction To AXI Protocol">
            <a:extLst>
              <a:ext uri="{FF2B5EF4-FFF2-40B4-BE49-F238E27FC236}">
                <a16:creationId xmlns:a16="http://schemas.microsoft.com/office/drawing/2014/main" id="{ADF59154-BDE6-E001-59DC-1C5AEBBB7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6538" y="561975"/>
            <a:ext cx="6638925" cy="573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2755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26927-8B10-BFB9-2293-E0C4B1ECD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595C3-2E10-DD9A-F30C-1282661DC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 VALID–READY Handshake Mechanism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AF88F-872C-456F-6EB7-2B3528A35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718733"/>
            <a:ext cx="10610320" cy="3344334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VALID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(sender)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asserts VALID to indicate that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address, data, or control information on the channel is valid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can be transferred.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Once asserted, VALID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remain high until the transfer completes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READY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 (receiver)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asserts READY to indicate that it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accept the information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that channel.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READY may toggle until a handshake occurs.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Condition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 transfer occurs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when both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 &amp;&amp; READY are high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same rising clock edge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synchronous handshake ensures reliable data/control transfers on all AXI channels.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6728AB-2444-B231-9790-DDE87E6A3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266" y="5063067"/>
            <a:ext cx="7476067" cy="1649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059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B3F55-4B9A-E3AE-6735-376AC7482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C824-C65E-1B71-46FF-6ADA0C051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105086"/>
          </a:xfrm>
        </p:spPr>
        <p:txBody>
          <a:bodyPr/>
          <a:lstStyle/>
          <a:p>
            <a:r>
              <a:rPr lang="en-IN" dirty="0"/>
              <a:t>AXI Write Transaction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22A14-76DF-D1C5-A77B-C146BE9A8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36892"/>
            <a:ext cx="10009412" cy="3954309"/>
          </a:xfrm>
        </p:spPr>
        <p:txBody>
          <a:bodyPr>
            <a:normAutofit fontScale="25000" lnSpcReduction="20000"/>
          </a:bodyPr>
          <a:lstStyle/>
          <a:p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Write Address Phase</a:t>
            </a:r>
          </a:p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AXI master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initiates a write transaction by placing the write address and control information on the 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Address Channel (AW)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master asserts 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AWVALID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indicate that the address and control signals are valid.</a:t>
            </a:r>
            <a:b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slave asserts 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AWREADY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it is ready to accept the write address.</a:t>
            </a:r>
            <a:b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address phase completes when 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AWVALID &amp;&amp; AWREADY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high on a rising clock edge.</a:t>
            </a:r>
          </a:p>
          <a:p>
            <a:pPr marL="0" indent="0">
              <a:buNone/>
            </a:pP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Write Data Phase</a:t>
            </a:r>
          </a:p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After or independent of the address phase, the master transfers write data on the 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Data Channel (W)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master asserts 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WVALID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write data is available.</a:t>
            </a:r>
            <a:b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slave asserts 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WREADY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it can accept the data.</a:t>
            </a:r>
            <a:b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Each data beat transfers when 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WVALID &amp;&amp; WREADY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high.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325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38129-D25C-4675-F6BB-C6461749E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1D01D-3A1B-3D95-992F-C55D06E18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776835"/>
            <a:ext cx="9905999" cy="5014366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Write Data Burst Completion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For burst writes, multiple data beats are sent on the W channel.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master asserts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WLAST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data beat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burst.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WLAST indicates the end of the write data transfer for that transaction.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Write Response Phase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After receiving the final data beat,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slave returns a response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Response Channel (B)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slave asserts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BVALID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indicate the response is valid.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master asserts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it is ready to accept the response.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write transaction completes when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BVALID &amp;&amp; BREADY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high.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571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639F9-1CCB-08D7-DA04-83A524DA6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4BB39-4FC6-CE93-66AC-E0AE17665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AXI Read Transaction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CBAF1-1C6C-E81D-E806-B97FAA988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752600"/>
            <a:ext cx="9763654" cy="46228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Address Phase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AXI master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initiates a read by placing the read address and control information on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Address Channel (AR)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master asserts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ARVALID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indicate that the address and control signals are valid.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slave asserts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ARREADY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it is ready to accept the read request.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address transfer completes when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ARVALID &amp;&amp; ARREADY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high on a rising clock edge.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Phase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After accepting the address,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slave returns read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Data Channel (R)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slave asserts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RVALID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read data is available.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master asserts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RREADY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it is ready to accept the data.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transfer occurs when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RVALID &amp;&amp; RREADY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high.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116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468E6-DE29-AC95-62BA-256C8288D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22EB3-923D-1E11-6A16-85261ADAA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2200" y="939800"/>
            <a:ext cx="9955211" cy="4851401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Role of Key Signals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ARVALID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Indicates that the read address and control information are valid.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ARREADY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Indicates that the slave can accept the read address.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RVALID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Indicates that the slave is providing valid read data.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RREADY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Indicates that the master is ready to receive read data.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RLAST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Asserted by the slave to indicate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beat of a read burst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319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5BF36-3211-674B-4671-CEFBCB2F6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6FE05-D9CE-A1BF-17FF-280C3A344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947815"/>
          </a:xfrm>
        </p:spPr>
        <p:txBody>
          <a:bodyPr/>
          <a:lstStyle/>
          <a:p>
            <a:r>
              <a:rPr lang="en-IN" dirty="0"/>
              <a:t>AXI Burst Transactions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F62D6-47C2-1A48-3A16-D868C7DB0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216" y="1444954"/>
            <a:ext cx="9615811" cy="44534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 burst transaction allows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data transfers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occur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address phase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Bursts improve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 efficiency and throughput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reducing address overhead.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Burst Length (LEN)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specifies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data 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beats in a burst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Actual number of transfers =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 + 1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Example: LEN = 3 →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data beats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69B263-2C0F-1842-55AB-9CE3B995E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9083" y="2663950"/>
            <a:ext cx="3583175" cy="3575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661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4E611-8AFB-24DA-E52B-F75124E5D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943FC-E860-A1C1-702E-A19B57E50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4333" y="1116700"/>
            <a:ext cx="6595009" cy="4774301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Burst Size (SIZE) – AXI Protocol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specifies the number of bytes transferred per beat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an AXI burst.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of SIZE determines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width per transfer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beats in a burst use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SIZE value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increments by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bytes per beat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each beat.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= 2 → 2² = 4 bytes per beat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694484-BF41-F149-5FD0-E48CFB2CC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090" y="2172017"/>
            <a:ext cx="3153215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3613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8147-C0DE-1ECF-F9CB-E3870BBCD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C1D5-90AE-86EF-413D-CBAD8FA31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51482"/>
          </a:xfrm>
        </p:spPr>
        <p:txBody>
          <a:bodyPr/>
          <a:lstStyle/>
          <a:p>
            <a:r>
              <a:rPr lang="en-IN" dirty="0"/>
              <a:t>Burst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6EFE2-7F35-1B29-5290-3687FFB34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557867"/>
            <a:ext cx="9905999" cy="4428066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AXI supports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burst types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FIXED Burst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Address remains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every data beat.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Commonly used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 or peripheral registers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INCR Burst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Address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the transfer size after each beat.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Most commonly used burst type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accesses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WRAP Burst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Address increments, but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wraps around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it reaches a boundary.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Used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cache-line aligned transfers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559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1B2BB-0CFC-FCC1-0B38-3709FE7F1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F7E25-70E5-B02F-DAC0-FFB3A6BD9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36149"/>
          </a:xfrm>
        </p:spPr>
        <p:txBody>
          <a:bodyPr/>
          <a:lstStyle/>
          <a:p>
            <a:r>
              <a:rPr lang="en-IN" dirty="0"/>
              <a:t>BURST CALCULATIONS FOR FIXED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795EC9-44F8-62C4-3459-6BEF0992B0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1438711"/>
            <a:ext cx="3582987" cy="3980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Beats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beats = LEN + 1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AWLEN = 3 →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beats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Bytes per Beat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Bytes per beat = 2^SIZE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AWSIZE = 2 → 2² =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bytes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A631C3-D788-3A09-A0E9-1C6E0372D4FC}"/>
              </a:ext>
            </a:extLst>
          </p:cNvPr>
          <p:cNvSpPr txBox="1"/>
          <p:nvPr/>
        </p:nvSpPr>
        <p:spPr>
          <a:xfrm>
            <a:off x="5655733" y="1659467"/>
            <a:ext cx="483446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Calculation (FIXED Burst)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for every beat = Same start address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Start Address = 0x1000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Beat 1 → 0x1000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Beat 2 → 0x1000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Beat 3 → 0x1000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Beat 4 → 0x1000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1A776A-7B34-CCEC-FE25-7C1D7F685592}"/>
              </a:ext>
            </a:extLst>
          </p:cNvPr>
          <p:cNvSpPr txBox="1"/>
          <p:nvPr/>
        </p:nvSpPr>
        <p:spPr>
          <a:xfrm>
            <a:off x="1141413" y="4682067"/>
            <a:ext cx="923837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 for FIXED Burst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increment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transfers occur repeatedly at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address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transfer size = (LEN + 1) × (2^SIZE)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68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8A1B5-6CBE-0863-EEC7-C62E0ED17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63149"/>
          </a:xfrm>
        </p:spPr>
        <p:txBody>
          <a:bodyPr/>
          <a:lstStyle/>
          <a:p>
            <a:r>
              <a:rPr lang="en-IN" dirty="0"/>
              <a:t>BURST CALCULATIONS FOR INCR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1534E1-CE65-E5C5-A4DA-9836D45CFE53}"/>
              </a:ext>
            </a:extLst>
          </p:cNvPr>
          <p:cNvSpPr txBox="1"/>
          <p:nvPr/>
        </p:nvSpPr>
        <p:spPr>
          <a:xfrm>
            <a:off x="1270000" y="1600201"/>
            <a:ext cx="40724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Beats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beats = LEN + 1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AWLEN = 3 →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beats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Bytes per Beat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Bytes per beat = 2^SIZE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AWSIZE = 2 → 2² =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bytes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81002B-109C-650F-6E56-A2621A730554}"/>
              </a:ext>
            </a:extLst>
          </p:cNvPr>
          <p:cNvSpPr txBox="1"/>
          <p:nvPr/>
        </p:nvSpPr>
        <p:spPr>
          <a:xfrm>
            <a:off x="5442012" y="1600201"/>
            <a:ext cx="654284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Calculation (INCR Burst)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for next beat = Previous address + (2^SIZE)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Start Address = 0x1000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AWSIZE = 2 → 4 bytes per beat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Beat 1 → 0x1000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Beat 2 → 0x1004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Beat 3 → 0x1008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Beat 4 → 0x100C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D8E1B-79E4-6F56-9C4C-771902BD6BAE}"/>
              </a:ext>
            </a:extLst>
          </p:cNvPr>
          <p:cNvSpPr txBox="1"/>
          <p:nvPr/>
        </p:nvSpPr>
        <p:spPr>
          <a:xfrm>
            <a:off x="1562470" y="4687410"/>
            <a:ext cx="60368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Transfer Size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bytes = (LEN + 1) × (2^SIZE)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AWLEN = 3, AWSIZE = 2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  Total = 4 × 4 =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bytes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2421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59B2F-174C-7DA7-4409-633AA2AA8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2DDF955-4322-FCC1-4AB5-EBD0A63AE0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1974629"/>
              </p:ext>
            </p:extLst>
          </p:nvPr>
        </p:nvGraphicFramePr>
        <p:xfrm>
          <a:off x="1141413" y="1424198"/>
          <a:ext cx="9906000" cy="3922026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1568422836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3377310005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51975375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1193948864"/>
                    </a:ext>
                  </a:extLst>
                </a:gridCol>
              </a:tblGrid>
              <a:tr h="540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BURST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Burst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Typical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847191"/>
                  </a:ext>
                </a:extLst>
              </a:tr>
              <a:tr h="9466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 does </a:t>
                      </a: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change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each beat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FIFO, peripheral registers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426986"/>
                  </a:ext>
                </a:extLst>
              </a:tr>
              <a:tr h="9466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 </a:t>
                      </a: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increments by SIZE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each beat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Sequential memory access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066558"/>
                  </a:ext>
                </a:extLst>
              </a:tr>
              <a:tr h="9466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Address increments and </a:t>
                      </a: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wraps at boundary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Cache line transfers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787511"/>
                  </a:ext>
                </a:extLst>
              </a:tr>
              <a:tr h="540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Reserved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198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60075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879FD-29DC-690D-91EB-81EF916004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7157" y="673630"/>
            <a:ext cx="9485843" cy="1005842"/>
          </a:xfrm>
        </p:spPr>
        <p:txBody>
          <a:bodyPr>
            <a:normAutofit fontScale="90000"/>
          </a:bodyPr>
          <a:lstStyle/>
          <a:p>
            <a:r>
              <a:rPr lang="en-IN" dirty="0"/>
              <a:t>VALID–READY Handshake Mechanism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85498D-7AAF-A1D3-8AE7-14E6A59DF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5" y="1913467"/>
            <a:ext cx="9367308" cy="2816329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VALID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asserted by the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(master or slave) to indicate that the address, data, or control information on the channel is valid.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Once asserted,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must remain high until a successful transfer occurs.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READY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asserted by the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DESTINATION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indicate that it is ready to accept the transfer.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 be asserted or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deasserted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 any time to control data flow.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443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7FE52D-6C77-332E-8B89-9654FF439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897" y="450394"/>
            <a:ext cx="10164075" cy="33204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2B8068-F0DB-B521-3E9E-79C8F6EB1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898" y="3536219"/>
            <a:ext cx="10341854" cy="299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4996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3467C-718B-19D4-C586-7759B3827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1135B-A30C-C194-4FAD-567BA9AC7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9905999" cy="829282"/>
          </a:xfrm>
        </p:spPr>
        <p:txBody>
          <a:bodyPr/>
          <a:lstStyle/>
          <a:p>
            <a:r>
              <a:rPr lang="en-IN" dirty="0"/>
              <a:t>READY WITH VALID HANDSHAKE</a:t>
            </a:r>
          </a:p>
        </p:txBody>
      </p:sp>
      <p:pic>
        <p:nvPicPr>
          <p:cNvPr id="1026" name="Picture 2" descr="CoreSDR_AXI v2.0 Handbook">
            <a:extLst>
              <a:ext uri="{FF2B5EF4-FFF2-40B4-BE49-F238E27FC236}">
                <a16:creationId xmlns:a16="http://schemas.microsoft.com/office/drawing/2014/main" id="{9932A221-CFDE-3D70-FADC-75D024B2619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933" y="1921933"/>
            <a:ext cx="8678836" cy="314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22097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73249-049E-4A70-76C7-FDE86C762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B3443-06FD-63C6-6D89-58C33CE2C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Clock and Reset </a:t>
            </a:r>
            <a:r>
              <a:rPr lang="en-IN" dirty="0" err="1"/>
              <a:t>Behavior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220EA-E048-A556-A7D4-A88CB16B6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3066" y="1930402"/>
            <a:ext cx="11599333" cy="40555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Single Global Clock (ACLK)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• All AXI signals are sampled and driven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synchronously on the rising edge of ACLK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• Every AXI channel (read, write, response) operates in the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same clock domain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• A single clock simplifies timing analysis and avoids intra-protocol CDC issues.</a:t>
            </a:r>
          </a:p>
          <a:p>
            <a:pPr marL="0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Active-Low Reset (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ARESETn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ARESETn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is an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active-low reset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signal for the AXI interface.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• When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ARESETn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= 0, the AXI interface is reset to a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known idle state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• During reset: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VALID signals must be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deasserted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No transactions are allowed</a:t>
            </a:r>
          </a:p>
        </p:txBody>
      </p:sp>
    </p:spTree>
    <p:extLst>
      <p:ext uri="{BB962C8B-B14F-4D97-AF65-F5344CB8AC3E}">
        <p14:creationId xmlns:p14="http://schemas.microsoft.com/office/powerpoint/2010/main" val="38671075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64D91-4780-0C07-1558-B21EC186C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3B954-0E10-4DBB-A684-BEA4789F0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Advantages of AXI (Advanced </a:t>
            </a:r>
            <a:r>
              <a:rPr lang="en-US" b="1" dirty="0" err="1"/>
              <a:t>eXtensible</a:t>
            </a:r>
            <a:r>
              <a:rPr lang="en-US" b="1" dirty="0"/>
              <a:t> Interface)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B44F8-1AF2-4D67-7E89-926EB358D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performance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(supports high bandwidth)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read and write channels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parallel transfers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Burst transfers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 efficiency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clock frequency support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(works for small to very complex SoCs)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latency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high-speed systems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0565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6247A-05C7-8D95-AE80-BA5A6EE89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AE4D1-91FB-8A0E-8BD9-7D305F53C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Disadvantages of AXI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7A49F-8A63-0513-ED4F-D08FCC0C4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protocol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(many signals, harder to design/debug)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hardware overhead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Consumes more power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compared to simpler buses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suitable for simple peripherals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is more difficult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Interconnection design is complex</a:t>
            </a:r>
          </a:p>
        </p:txBody>
      </p:sp>
    </p:spTree>
    <p:extLst>
      <p:ext uri="{BB962C8B-B14F-4D97-AF65-F5344CB8AC3E}">
        <p14:creationId xmlns:p14="http://schemas.microsoft.com/office/powerpoint/2010/main" val="14581275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F0C6E-6AB0-6E7A-85D7-58970FD93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777B7-87C8-C7F5-8169-115FBD298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520147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IN" sz="4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970024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902</TotalTime>
  <Words>1847</Words>
  <Application>Microsoft Office PowerPoint</Application>
  <PresentationFormat>Widescreen</PresentationFormat>
  <Paragraphs>154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Times New Roman</vt:lpstr>
      <vt:lpstr>Tw Cen MT</vt:lpstr>
      <vt:lpstr>Circuit</vt:lpstr>
      <vt:lpstr>AXI protocol</vt:lpstr>
      <vt:lpstr>What is AMBA</vt:lpstr>
      <vt:lpstr>AMBA family</vt:lpstr>
      <vt:lpstr>Why axi protocol?</vt:lpstr>
      <vt:lpstr>AXI Architecture Overview</vt:lpstr>
      <vt:lpstr>AXI Channel Structure</vt:lpstr>
      <vt:lpstr>PowerPoint Presentation</vt:lpstr>
      <vt:lpstr>AXI VALID–READY Handshake Mechanism</vt:lpstr>
      <vt:lpstr>AXI Write Transaction Flow</vt:lpstr>
      <vt:lpstr>PowerPoint Presentation</vt:lpstr>
      <vt:lpstr>AXI Read Transaction Flow</vt:lpstr>
      <vt:lpstr>PowerPoint Presentation</vt:lpstr>
      <vt:lpstr>AXI Burst Transactions</vt:lpstr>
      <vt:lpstr>PowerPoint Presentation</vt:lpstr>
      <vt:lpstr>Burst Types</vt:lpstr>
      <vt:lpstr>BURST CALCULATIONS FOR FIXED</vt:lpstr>
      <vt:lpstr>BURST CALCULATIONS FOR INCR</vt:lpstr>
      <vt:lpstr>PowerPoint Presentation</vt:lpstr>
      <vt:lpstr>VALID–READY Handshake Mechanism</vt:lpstr>
      <vt:lpstr>PowerPoint Presentation</vt:lpstr>
      <vt:lpstr>READY WITH VALID HANDSHAKE</vt:lpstr>
      <vt:lpstr>Clock and Reset Behavior</vt:lpstr>
      <vt:lpstr>Advantages of AXI (Advanced eXtensible Interface) </vt:lpstr>
      <vt:lpstr>Disadvantages of AXI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Lokesh Reddy</dc:creator>
  <cp:lastModifiedBy>Lokesh Reddy</cp:lastModifiedBy>
  <cp:revision>10</cp:revision>
  <dcterms:created xsi:type="dcterms:W3CDTF">2026-02-04T14:37:48Z</dcterms:created>
  <dcterms:modified xsi:type="dcterms:W3CDTF">2026-02-27T11:08:21Z</dcterms:modified>
</cp:coreProperties>
</file>